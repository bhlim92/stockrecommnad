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2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91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Calibri"/>
              </a:defRPr>
            </a:pPr>
            <a:r>
              <a:t>Stock Discovery &amp; Portfolio Rebalancing System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전체 시스템 아키텍처 및 연동 구조도</a:t>
            </a:r>
          </a:p>
          <a:p>
            <a:pPr>
              <a:spcBef>
                <a:spcPts val="2000"/>
              </a:spcBef>
              <a:defRPr sz="1400">
                <a:solidFill>
                  <a:srgbClr val="A0AEC0"/>
                </a:solidFill>
                <a:latin typeface="Calibri"/>
              </a:defRPr>
            </a:pPr>
            <a:r>
              <a:t>Backend (FastAPI, Threading) &amp; Frontend (Vanilla Web, Polling) Integration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Malgun Gothic"/>
              </a:defRPr>
            </a:pPr>
            <a:r>
              <a:t>1. 일별 자동화 파이프라인 구조 (Daily Batch Pipeline)</a:t>
            </a:r>
          </a:p>
          <a:p>
            <a:pPr>
              <a:spcBef>
                <a:spcPts val="500"/>
              </a:spcBef>
              <a:defRPr sz="1400">
                <a:solidFill>
                  <a:srgbClr val="A0AEC0"/>
                </a:solidFill>
                <a:latin typeface="Malgun Gothic"/>
              </a:defRPr>
            </a:pPr>
            <a:r>
              <a:t>스케줄러에 의한 데이터 수집, 분석 및 보고서 발행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109728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작업 스케줄러</a:t>
            </a:r>
            <a:br/>
            <a:r>
              <a:t>(Windows Task Scheduler)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매일 오전 지정 시간 실행</a:t>
            </a:r>
          </a:p>
        </p:txBody>
      </p:sp>
      <p:sp>
        <p:nvSpPr>
          <p:cNvPr id="5" name="Down Arrow 4"/>
          <p:cNvSpPr/>
          <p:nvPr/>
        </p:nvSpPr>
        <p:spPr>
          <a:xfrm>
            <a:off x="1554480" y="2926080"/>
            <a:ext cx="365760" cy="548640"/>
          </a:xfrm>
          <a:prstGeom prst="down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011680" cy="109728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실행 스크립트</a:t>
            </a:r>
            <a:br/>
            <a:r>
              <a:t>(run_pipeline.bat)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가상환경(venv) 활성화 및 라이브러리 검증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931920"/>
            <a:ext cx="640080" cy="27432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3200400"/>
            <a:ext cx="2194560" cy="182880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메인 오케스트레이터</a:t>
            </a:r>
            <a:br/>
            <a:r>
              <a:t>(main.py)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1. 환경 변수 적재</a:t>
            </a:r>
            <a:br/>
            <a:r>
              <a:t>2. 데이터 수집 기동</a:t>
            </a:r>
            <a:br/>
            <a:r>
              <a:t>3. Gemini 분석 요청</a:t>
            </a:r>
            <a:br/>
            <a:r>
              <a:t>4. 자산 비중 계산</a:t>
            </a:r>
            <a:br/>
            <a:r>
              <a:t>5. 결과 업로드 제어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10312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시세 데이터 수집</a:t>
            </a:r>
            <a:br/>
            <a:r>
              <a:t>(yfinance / FDR)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Watchlist 주식 및 거시 채권/환율 시세 버퍼링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210312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뉴스 RSS 수집</a:t>
            </a:r>
            <a:br/>
            <a:r>
              <a:t>(NewsFetcher)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S&amp;P500/KOSPI 거시 뉴스 헤드라인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210312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유튜브 자막 요약</a:t>
            </a:r>
            <a:br/>
            <a:r>
              <a:t>(YouTubeSummarizer)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전문가 채널의 영상 스크랩 및 텍스트 추출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2011680"/>
            <a:ext cx="27432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035040" y="3291840"/>
            <a:ext cx="27432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035040" y="4572000"/>
            <a:ext cx="27432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2011680"/>
            <a:ext cx="2286000" cy="109728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Gemini AI 모델</a:t>
            </a:r>
            <a:br/>
            <a:r>
              <a:t>(Recommender)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수집된 텍스트 컨텍스트 요약 및 최종 리포트 마크다운 빌드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840480"/>
            <a:ext cx="2286000" cy="109728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구글 드라이브 업로드</a:t>
            </a:r>
            <a:br/>
            <a:r>
              <a:t>(Google Drive API)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최종 Investment_Report.md 파일을 Drive 전용 폴더에 보관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5360" y="2468880"/>
            <a:ext cx="45720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595360" y="4297680"/>
            <a:ext cx="45720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Malgun Gothic"/>
              </a:defRPr>
            </a:pPr>
            <a:r>
              <a:t>2. 웹 서버 및 스크리너 실시간 연동 (Web Server &amp; Screener)</a:t>
            </a:r>
          </a:p>
          <a:p>
            <a:pPr>
              <a:spcBef>
                <a:spcPts val="500"/>
              </a:spcBef>
              <a:defRPr sz="1400">
                <a:solidFill>
                  <a:srgbClr val="A0AEC0"/>
                </a:solidFill>
                <a:latin typeface="Malgun Gothic"/>
              </a:defRPr>
            </a:pPr>
            <a:r>
              <a:t>클라이언트 브라우저와 백엔드 API 간 실시간 폴링 및 리더보드 최적화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114800" cy="4389120"/>
          </a:xfrm>
          <a:prstGeom prst="rect">
            <a:avLst/>
          </a:prstGeom>
          <a:solidFill>
            <a:srgbClr val="151C3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2FE"/>
                </a:solidFill>
                <a:latin typeface="Malgun Gothic"/>
              </a:defRPr>
            </a:pPr>
            <a:r>
              <a:t>FRONTEND (웹 브라우저 클라이언트)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338328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vanilla UI (screener.html)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사용자 설정 모달, 모델 제어 및 탭 네비게이션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474720"/>
            <a:ext cx="338328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실시간 리더보드 (Top 15)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스캔 진행 중 분석 완료된 상위 15개 종목 점수 기준 실시간 정렬 렌더링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663440"/>
            <a:ext cx="338328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2.0초 폴링 타이머 (fetchStatus)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서버 과부하 방지 및 대역폭 최소화를 위한 2초 주기 상태 질의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3200400"/>
            <a:ext cx="731520" cy="27432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Arrow 9"/>
          <p:cNvSpPr/>
          <p:nvPr/>
        </p:nvSpPr>
        <p:spPr>
          <a:xfrm>
            <a:off x="5029200" y="4114800"/>
            <a:ext cx="731520" cy="274320"/>
          </a:xfrm>
          <a:prstGeom prst="leftArrow">
            <a:avLst/>
          </a:prstGeom>
          <a:solidFill>
            <a:srgbClr val="B9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5661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0AEC0"/>
                </a:solidFill>
                <a:latin typeface="Calibri"/>
              </a:defRPr>
            </a:pPr>
            <a:r>
              <a:t>HTTPS API / JSON</a:t>
            </a:r>
          </a:p>
          <a:p>
            <a:r>
              <a:t>SameSite='None' Cookie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45920"/>
            <a:ext cx="5486400" cy="4389120"/>
          </a:xfrm>
          <a:prstGeom prst="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900FF"/>
                </a:solidFill>
                <a:latin typeface="Malgun Gothic"/>
              </a:defRPr>
            </a:pPr>
            <a:r>
              <a:t>BACKEND (FastAPI - Cafe24 VPS 상주형 서버)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19456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인증 미들웨어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HTTPS 상에서 SameSite='None' 및 Secure 설정으로 교차 출처 로그인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286000"/>
            <a:ext cx="219456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FastAPI 라우터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중복 API 라우트 제거로 스캔/상태/정지 동작 단일 창구화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475488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백그라운드 워커 스레드 (Threading)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요청 즉시 리턴 후 병렬 스레드 가동 (Vercel에서는 중단되므로 Cafe24 VPS 고정 운영)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663440"/>
            <a:ext cx="219456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ThreadPoolExecutor (x15)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15개 스레드로 yfinance 연산 동시 가속화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663440"/>
            <a:ext cx="2194560" cy="1005840"/>
          </a:xfrm>
          <a:prstGeom prst="roundRect">
            <a:avLst/>
          </a:prstGeom>
          <a:solidFill>
            <a:srgbClr val="151C3C"/>
          </a:solidFill>
          <a:ln w="19050">
            <a:solidFill>
              <a:srgbClr val="B9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데이터베이스 (RDBMS)</a:t>
            </a:r>
          </a:p>
          <a:p>
            <a:pPr algn="ctr">
              <a:spcBef>
                <a:spcPts val="400"/>
              </a:spcBef>
              <a:defRPr sz="1000">
                <a:solidFill>
                  <a:srgbClr val="A0AEC0"/>
                </a:solidFill>
                <a:latin typeface="Malgun Gothic"/>
              </a:defRPr>
            </a:pPr>
            <a:r>
              <a:t>완료 시점에 MariaDB/PostgreSQL에 최종 분석 결과 백업 저장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